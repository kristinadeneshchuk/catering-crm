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3"/>
                </a:solidFill>
                <a:latin typeface="Calibri"/>
              </a:rPr>
              <a:t>Розмір ринку, $ млрд (CAGR 2,5–3,5%)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soil compacting equipment, $ млрд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2030 (оцінка)</c:v>
                  </c:pt>
                  <c:pt idx="2">
                    <c:v>2035 (прогноз)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3.4</c:v>
                </c:pt>
                <c:pt idx="2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3"/>
                </a:solidFill>
                <a:latin typeface="Calibri"/>
              </a:rPr>
              <a:t>Плита 90–95 кг: роздріб США проти роздрібу України, 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Роздрібна ціна, $</c:v>
                </c:pt>
              </c:strCache>
            </c:strRef>
          </c:tx>
          <c:spPr>
            <a:solidFill>
              <a:srgbClr val="0B72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72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2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VEVOR 196cc
(США)</c:v>
                  </c:pt>
                  <c:pt idx="1">
                    <c:v>YARDMAX YC1160
(США)</c:v>
                  </c:pt>
                  <c:pt idx="2">
                    <c:v>Barret RS-90T
(Україна)</c:v>
                  </c:pt>
                  <c:pt idx="3">
                    <c:v>Barret RS-95
(Україна)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480</c:v>
                </c:pt>
                <c:pt idx="2">
                  <c:v>598</c:v>
                </c:pt>
                <c:pt idx="3">
                  <c:v>642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0"/>
        <c:axPos val="l"/>
        <c:majorGridlines>
          <c:spPr>
            <a:ln w="1270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3"/>
                </a:solidFill>
                <a:latin typeface="Calibri"/>
              </a:rPr>
              <a:t>Ставка оренди за добу, 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США, $/добу (типово)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Віброплита</c:v>
                  </c:pt>
                  <c:pt idx="1">
                    <c:v>Вібротрамбовка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Україна, $/добу</c:v>
                </c:pt>
              </c:strCache>
            </c:strRef>
          </c:tx>
          <c:spPr>
            <a:solidFill>
              <a:srgbClr val="0B72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Віброплита</c:v>
                  </c:pt>
                  <c:pt idx="1">
                    <c:v>Вібротрамбовка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16.7</c:v>
                </c:pt>
                <c:pt idx="1">
                  <c:v>18.9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3"/>
                </a:solidFill>
                <a:latin typeface="Calibri"/>
              </a:rPr>
              <a:t>Маржа на юніт, 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Section 232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RS-95 на Amazon</c:v>
                  </c:pt>
                  <c:pt idx="1">
                    <c:v>NG83RH дилерам</c:v>
                  </c:pt>
                  <c:pt idx="2">
                    <c:v>ST-14 дилерам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-255</c:v>
                </c:pt>
                <c:pt idx="1">
                  <c:v>308</c:v>
                </c:pt>
                <c:pt idx="2">
                  <c:v>1050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 Section 232 (25%)</c:v>
                </c:pt>
              </c:strCache>
            </c:strRef>
          </c:tx>
          <c:spPr>
            <a:solidFill>
              <a:srgbClr val="0B72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RS-95 на Amazon</c:v>
                  </c:pt>
                  <c:pt idx="1">
                    <c:v>NG83RH дилерам</c:v>
                  </c:pt>
                  <c:pt idx="2">
                    <c:v>ST-14 дилерам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-373</c:v>
                </c:pt>
                <c:pt idx="1">
                  <c:v>127</c:v>
                </c:pt>
                <c:pt idx="2">
                  <c:v>774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Аналіз побудований на даних станом на 30 липня 2026. Курс НБУ 44,88 грн/USD.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371600"/>
            <a:ext cx="5669280" cy="5669280"/>
          </a:xfrm>
          <a:prstGeom prst="ellipse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РИНКУ · 30.07.2026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Barret → США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Вібротрамбовки та віброплити Budmir: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можна возити в США і скільки на цьому заробити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у двох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цільових категоріях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44,88 ₴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37560" y="4754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НБУ,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30.07.2026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×4–6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4754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орендна ставка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 проти України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Джерела: budmir.com.ua, kulibin, prom.ua, storgom · Home Depot, Amazon, Sunbelt, United Rentals · USTR, CBP, EPA, ARA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аналізуємо і на яких даних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віброплит Barret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RS-55T … ST-14 Honda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81144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вібротрамбовки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81144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NG75E, NG82E, NG83RB, NG83RH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$400–1 386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57616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роздріб в Україні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діапазон по всіх 15 SKU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BE3D3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429000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4564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Budmir у цій сесії недоступний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9776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Egress-політика блокує запити (403 на CONNECT). Каталог відновлено з пошукових даних + перехресна перевірка через kulibin, prom.ua, storgom, Епіцентр.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Наслідок: перелік SKU і цін майже повний, але не гарантовано повний; частина ТТХ у сніпетах суперечлива.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5352" y="315468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65392" y="3429000"/>
            <a:ext cx="402336" cy="402336"/>
          </a:xfrm>
          <a:prstGeom prst="ellipse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4032" y="34564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Попереднього аналізу в репозиторії немає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65392" y="39776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проєкті лежить лише код CRM — жодного файлу з цією темою.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написаний з нуля; попередній аналіз з чату можна довести і звести з цим.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закупівельні ціни — модельні припущення (60–75% роздрібу), доки не буде факту з ERP.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Віброплити Barret на Budmir — 11 SKU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005840"/>
                <a:gridCol w="24688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Ціна, 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RS-55T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17 940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легка, ~55–60 кг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 кг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RS-75T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 кг, бак для води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RS-88T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25 509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 кг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RS-90T (з баком)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26 820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 кг, асфальт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 кг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RS-85H (Honda)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47 251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кг, Honda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ST-12B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35 443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реверсивна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ST-13B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44 938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реверсивна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ST-14B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54 854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реверсивна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ST-14 (Honda)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61 033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72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реверсивна, Honda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81328"/>
            <a:ext cx="3822192" cy="2148840"/>
          </a:xfrm>
          <a:prstGeom prst="roundRect">
            <a:avLst>
              <a:gd name="adj" fmla="val 3404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6916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Реверсивні = зона інтересу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08483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США між китайським Tier 3 ($1,5–2,5k) і Wacker/Bomag ($5–17k) — широка порожнеча. Bomag BPR35/60 коштує $16 975.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3840480"/>
            <a:ext cx="3822192" cy="1965960"/>
          </a:xfrm>
          <a:prstGeom prst="roundRect">
            <a:avLst>
              <a:gd name="adj" fmla="val 3721"/>
            </a:avLst>
          </a:prstGeom>
          <a:solidFill>
            <a:srgbClr val="FBE3D3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4041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Обережно з ТТХ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4389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Сніпети дають суперечливі дані: ST-14B «42 кг» при реальному класі 130–160 кг. Перед експортною документацією ТТХ звіряти по паспортах.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Ціни — сторінки товарів budmir.com.ua; конвертація за курсом НБУ 44,88 ₴/$ на 30.07.2026.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Вібротрамбовки — 4 SKU, і оренда в Україні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91440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Ціна, 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Примітка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NG83RH (Honda GX160)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62 202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Budmir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NG83RH — та сама модель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0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39 875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0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2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prom.ua — розбіжність 1,56×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NG83RB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бензинова, не-Honda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NG75E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32 707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електрична, немає в наявності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NG82E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н/д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електрична (є в Епіцентрі)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Оренда в Україні — база для порівняння зі США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₴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83080" y="4407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34640" y="4407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віброплита 200 кг · Budmir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910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850 ₴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83080" y="4910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834640" y="49103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вібротрамбовка NG83RH · Budmir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413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200–500 ₴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83080" y="5413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$4,5–11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834640" y="5413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Києва загалом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18120" y="1481328"/>
            <a:ext cx="3822192" cy="4325112"/>
          </a:xfrm>
          <a:prstGeom prst="roundRect">
            <a:avLst>
              <a:gd name="adj" fmla="val 1914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9244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Разом по двох категоріях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92440" y="20116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18" name="Text 15"/>
          <p:cNvSpPr/>
          <p:nvPr/>
        </p:nvSpPr>
        <p:spPr>
          <a:xfrm>
            <a:off x="8092440" y="3127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SKU: 11 віброплит + 4 вібротрамбовки.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підтверджена по 12 з 15.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92440" y="3977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Barret на Budmir ширший — віброрейки, глибинні вібратори Storm Pro, мотопомпи, бетонозмішувачі G-140/G-220, швонарізувач AK35B. У цьому аналізі вони не враховані.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ПОХОДЖЕННЯ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Питання, від якого залежить уся економіка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Чехія на етикетці — Китай у контейнері?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9933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Індекси збігаються з китайськими OEM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34086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«RS-90T» = типаж FSHC-90T (Yancheng Fujiheng). BISON, DIMEC, TEKPAC відкрито продають ці ж плити під чужим брендом.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16382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Ціновий рівень — китайський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1129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$400–642 роздріб в Україні відповідає FOB $230–320 + логістика + маржа, а не європейському заводу.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3342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Асортимент — ознака sourcing-бренду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68172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Плити + трамбовки + мотопомпи + бетонозмішувачі + швонарізувач під одним брендом.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1417320"/>
            <a:ext cx="4050792" cy="2743200"/>
          </a:xfrm>
          <a:prstGeom prst="roundRect">
            <a:avLst>
              <a:gd name="adj" fmla="val 2667"/>
            </a:avLst>
          </a:prstGeom>
          <a:solidFill>
            <a:srgbClr val="E8590C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1645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substantial transformation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0" y="221284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37,5%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7863840" y="30175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мита, якщо походження — Китай: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Section 301 List 3 + 12,5% forced-labor. Перепродаж в Україні країну походження НЕ змінює.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4343400"/>
            <a:ext cx="4050792" cy="1463040"/>
          </a:xfrm>
          <a:prstGeom prst="roundRect">
            <a:avLst>
              <a:gd name="adj" fmla="val 50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0" y="4526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№1 — безкоштовна і вирішальна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48463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Підняти імпортні МД Budmir по Barret і подивитися графу «країна походження». 30 хвилин роботи — і проєкт або відкривається, або закривається.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ПОПИТ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Ринок США: великий, зростає, і купує через оренду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09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$2,8–3,2 млрд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ґрунтоущільнювальної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техніки США,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1144" y="1609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$83,5 млрд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81144" y="2084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ринок оренди США, 2026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(+3,6% р/р, ARA)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463040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1609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40–45%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57616" y="2084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нової техніки купують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орендні парки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017520"/>
          <a:ext cx="66751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543800" y="3017520"/>
            <a:ext cx="4096512" cy="2788920"/>
          </a:xfrm>
          <a:prstGeom prst="roundRect">
            <a:avLst>
              <a:gd name="adj" fmla="val 2623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18120" y="3200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продає в США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818120" y="36118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Big-box: Home Depot, Lowe's, Tractor Supply — продаж і оренда під одним дахом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домінує дешевий сегмент, цінова війна $355–500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Онлайн-дилери: Northern Tool, Zoro, Contractors Direct, MaxTool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Орендні двори: URI, Sunbelt, Herc + тисячі незалежних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Вживаний ринок MachineryTrader — цінова стеля для нових «безіменних»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КОНКУРЕНЦІЯ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Триярусна структура ринку — і де сідає Barret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premium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1975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Wacker Neuson · Bomag · Weber MT · Multiquip Mikasa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$2 300 – 17 000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99923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Bomag BPR35/60 — $16 975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Wacker BS60-4a — $3 899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Multiquip MTX — від $3 984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pro-value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1975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Tomahawk Power · Bartell · MBW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81144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$1 900 – 4 900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99923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Tomahawk TPC80H — $1 899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Bartell BT1400H — $3 439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Bartell BT1600 — $4 935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7616" y="1645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consumer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7616" y="1975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VEVOR · YARDMAX · Landworks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57616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$355 – 800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2999232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VEVOR 196cc — $355–450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YARDMAX YC1160 — $480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трамбовки $700–1 100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956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тут Barret: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7480" y="493776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залізо = Tier 3, опція Honda підтягує окремі SKU у нижній Tier 2. Але бренду в США немає, запчастин немає, сервісу немає. На Amazon Barret конкурує тільки ціною — і програє. У дилерському каналі треба конкурувати сервісом — а його нема чим підкріпити.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Ціновий парадокс: ми дорожчі ще до відвантаження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8580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63040"/>
            <a:ext cx="3913632" cy="1828800"/>
          </a:xfrm>
          <a:prstGeom prst="roundRect">
            <a:avLst>
              <a:gd name="adj" fmla="val 4000"/>
            </a:avLst>
          </a:prstGeom>
          <a:solidFill>
            <a:srgbClr val="FBE3D3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6916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 б везли товар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 дорожчого ринку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дешевший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01000" y="2743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ще додавали фрахт, мито й комісію Amazon.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3474720"/>
            <a:ext cx="3913632" cy="1783080"/>
          </a:xfrm>
          <a:prstGeom prst="roundRect">
            <a:avLst>
              <a:gd name="adj" fmla="val 410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3657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логістичне плече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400507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машина китайська, то маршрут Китай → Україна → США дорожчий і повільніший за прямий Китай → США, а мито те саме.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Ціни США: Home Depot / Amazon, липень 2026. Ціни Barret: budmir.com.ua, конвертація 44,88 ₴/$.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Amazon: найгірший канал входу для цього товару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з 15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не проходять FBA взагалі — ліміт ваги юніта 150 lb (68 кг)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77640" y="1463040"/>
            <a:ext cx="766267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06240" y="1764792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18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Ліміт 150 lb (68 кг)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9019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Плити 75–95 кг = 165–210 lb, реверсивні 130–160 кг, NG83RH 183 lb. Залишається FBM/LTL: $120–200 доставки на юніт.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77640" y="2606040"/>
            <a:ext cx="766267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2907792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761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Hazmat / Dangerous Goods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0449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Техніка з паливною системою вимагає DG-review. FBA DG-програма в US має чергу, ліміти зберігання і підвищені збори.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77640" y="3749040"/>
            <a:ext cx="766267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4050792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904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COC на кожен листинг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41879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вимагає валідний номер Certificate of Conformity для товарів з ДВС. Немає COC — немає листингу.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77640" y="4892040"/>
            <a:ext cx="7662672" cy="1005840"/>
          </a:xfrm>
          <a:prstGeom prst="roundRect">
            <a:avLst>
              <a:gd name="adj" fmla="val 7273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0" y="5193792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5047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Повернення важкого товару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53309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Зворотна LTL + пошкодження з'їдають 1,5–2 маржі з юніта. Плюс referral 15%, fuel surcharge 3,5%, Overmax $17–25.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BE3D3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на Amazon усе ж працює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20624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Запчастини й розхідники: гумові підошви, ремкомплекти, віброізолятори, фільтри. Легкі, без hazmat, FBA-сумісні, маржа 45–60% — і будують присутність бренду.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Оренда: тут гроші і головна асиметрія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630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2668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×4–6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2668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різниця ставок США / Україна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646920" y="146304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29800" y="16276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82980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орендних днів до окупності машини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3108960"/>
            <a:ext cx="4096512" cy="2743200"/>
          </a:xfrm>
          <a:prstGeom prst="roundRect">
            <a:avLst>
              <a:gd name="adj" fmla="val 2667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33101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 орендний двір купує не ціну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18120" y="370332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Його ризик — не $300 різниці в закупці, а $75/добу простою × 5 днів очікування деталі.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 у канал купується складом ЗЧ у США, відправкою деталі за 24–48 год і англійським парт-каталогом.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Стартовий склад запчастин — $8–12k, це частина пілоту, а не опція.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Власна оренда в США — можлива, але це локальний операційний бізнес, не експорт. Другим кроком.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Ставки США: rentd, countbricks, Sunbelt, United Rentals (2026). Доставка в США рахується окремо: $75–200 в один бік.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МИТНИЦЯ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Тарифи США станом на 30.07.2026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 змінився шість днів тому — і це грає нам на руку. Умовно.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9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 8430.61.00.00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 ставка MFN на «tamping or compacting machinery»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94960" y="2020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(0%)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770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122 (10%)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жорсткий sunset, продовжити президент не може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94960" y="28620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закінчився 24.07.2026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Section 301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922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~60 економік. України в жодному зі списків немає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9496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/ 12,5%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453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Китайське походження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7640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List 3 + 12,5% forced-labor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94960" y="4544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B02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37,5%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294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232 (сталь)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56052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повну вартість, якщо метал &gt;15% ваги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53858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ризик 25%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641080" y="1874520"/>
            <a:ext cx="2999232" cy="4023360"/>
          </a:xfrm>
          <a:prstGeom prst="roundRect">
            <a:avLst>
              <a:gd name="adj" fmla="val 2439"/>
            </a:avLst>
          </a:prstGeom>
          <a:solidFill>
            <a:srgbClr val="E8590C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0" y="2103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Обов'язково перевірити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0" y="2468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 є 8430.61.00.00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Annex I-B / III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232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69680" y="35204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різниця між 0% і 25% на повну митну вартість — тобто між прибутковим і збитковим проєктом. Потрібен письмовий висновок брокера або CBP ruling.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4892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Маркування походження (19 CFR 134): «Made in Czech Republic» на китайській машині — це порушення, а не помилка.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ГРОШІ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Юніт-економіка: три сценарії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6304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Масові плити RS-xx на Amazon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−255 … −373 / юніт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55280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робити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256032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Honda-трамбовка NG83RH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+127 … +308 (10–23%)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95528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умовно, за наявності сервісу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3657600"/>
            <a:ext cx="3913632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5528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Реверсивні ST-13B / ST-14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+774 … +1 050 (30–40%)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55280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вартий фокус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26680" y="4754880"/>
            <a:ext cx="3913632" cy="1097280"/>
          </a:xfrm>
          <a:prstGeom prst="roundRect">
            <a:avLst>
              <a:gd name="adj" fmla="val 6667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955280" y="48646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Вхідні моделі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0" y="5120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≈60–75% роздрібу · фрахт $5 300 / 40'HQ (Гданськ→NY, $2 566 океан + підвіз + оформлення) · страхування 1,5%.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а не бюджет: закупівельні ціни — припущення, доки не буде факту з ERP Budmir.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Шлюзи, які не обходяться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361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40 CFR 1054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15361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Двигун має бути покритий US Certificate of Conformity. Європейська версія Honda GX160 сертифікована під EU Stage V — не під EPA.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40 CFR 1060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24505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Бак, шланги, кришка — сертифікація на випарні викиди. Найчастіша причина відмов у китайської техніки.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3364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33649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Каліфорнія — окремий шлюз. Частина двигунів Honda з 2021 стали «49-state only». Без CARB втрачаємо ~12% ринку.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4279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42793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$700–3 000/рік базово, реально $2–10k. Поліси часто виключають foreign-sourced goods — потрібен андеррайтинг.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Z535 + мануали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51937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Англомовні наліпки, попередження, паспорт. Дрібно грошово — критично юридично. CE в США не визнається.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26680" y="1463040"/>
            <a:ext cx="3913632" cy="4462272"/>
          </a:xfrm>
          <a:prstGeom prst="roundRect">
            <a:avLst>
              <a:gd name="adj" fmla="val 1869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691640"/>
            <a:ext cx="402336" cy="402336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2212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буде імпортером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0" y="260604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Order 14411 (03.06.2026): IOR має бути компанією за законами США, розташованою в США, з контролюючими бенефіціарами — резидентами США. Впровадження — вересень–листопад 2026.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Українська юрособа сама, найімовірніше, IOR бути не зможе. Робочі варіанти: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45262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через покупця — дилер США як IOR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Партнер-резидент США (реальний, не номінал)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FOB/EXW американському імпортеру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Плюс: скасовано de minimis $800 — кожна комерційна поставка = формальний entry; ISF за 24 год до завантаження, штраф $5 000+.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Вердикт і три можливі стратегії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27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«купуємо Barret в Україні → продаємо на Amazon США» не працює структурно: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568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цінової переваги (наш роздріб вищий за американський) · немає походження (китайський OEM = 37,5% мита) · немає каналу (FBA відрізає 11 з 15 SKU) · немає бренду й сервісу там, де реально є гроші.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3063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3192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Викинути українське плече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39776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Вийти на той самий завод напряму і зробити власний бренд для США: EPA/CARB-двигуни, US-специфікація, склад ЗЧ, дилерський канал. Українська компанія — власник бренду, не транзитний склад.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рекомендований, якщо мета — США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81144" y="3063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81144" y="33192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Ніша: реверсивні + Honda-трамбовки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81144" y="39776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ST-13B / ST-14 / NG83RH в орендний канал: 30–40% маржі витримує навіть 25% мита. Пілот — 1×40'HQ (~35 машин, ~$39k landed) + склад ЗЧ, 5–10 незалежних дворів в одному штаті.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81144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реальні гроші вже зараз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2880360"/>
            <a:ext cx="3538728" cy="3017520"/>
          </a:xfrm>
          <a:prstGeom prst="roundRect">
            <a:avLst>
              <a:gd name="adj" fmla="val 2424"/>
            </a:avLst>
          </a:prstGeom>
          <a:solidFill>
            <a:srgbClr val="F4F5F6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57616" y="3063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57616" y="331927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Запчастини й розхідники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57616" y="39776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Підошви, ремкомплекти, віброізолятори, фільтри: легкі, без hazmat, FBA-сумісні, маржа 45–60%. Будує присутність бренду перед продажем машин.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57616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мінімальні гроші на вхід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3276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Чого не робити: масові RS-плити на Amazon · будь-який захід без перевірки походження і Annex I-B · маркування «Made in Czech Republic» без документів.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ДІЇ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90 днів — від безкоштовного до дорогого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Імпортні МД Budmir по Barret: фактична країна походження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2084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дні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35240" y="14630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0391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0391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Закупівельні ціни й залишки по 15 SKU з ERP + звірка ТТХ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039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днів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203911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569464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615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6151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 EPA COC (1054) + evap COC (1060) у постачальника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61518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тижні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261518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45536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19125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1912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 митного брокера США: Annex I-B/III + IOR після EO 14411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31912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тижні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319125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$0,5–1,5k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76732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767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Квоти на фрахт Київ→Гданськ→NY/Savannah з war-risk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37673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тиждень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37673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343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Розмова з 5–10 незалежними орендними дворами (TX/FL/GA)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4343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тижні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43434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$0–0,5k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873752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49194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4919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Прайс product liability з покриттям foreign-sourced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49194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тиждень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49194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449824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E8590C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54955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15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8720" y="549554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Пілот: контейнер реверсивних + ЗЧ через партнера-IOR, DDP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20840" y="549554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тижнів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35240" y="549554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$45–55k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732520" y="1417320"/>
            <a:ext cx="2907792" cy="2468880"/>
          </a:xfrm>
          <a:prstGeom prst="roundRect">
            <a:avLst>
              <a:gd name="adj" fmla="val 2963"/>
            </a:avLst>
          </a:prstGeom>
          <a:solidFill>
            <a:srgbClr val="E8590C"/>
          </a:solidFill>
          <a:ln w="12700">
            <a:solidFill>
              <a:srgbClr val="E3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96112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Гейт після кроків 1–4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961120" y="19659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1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походження = Китай і 8430.61 у Annex I-B — формат «возимо Barret з України» закривається, і розмова переходить у Варіант 1.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732520" y="4069080"/>
            <a:ext cx="2907792" cy="1965960"/>
          </a:xfrm>
          <a:prstGeom prst="roundRect">
            <a:avLst>
              <a:gd name="adj" fmla="val 3721"/>
            </a:avLst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1A8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961120" y="4224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Топ-ризики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961120" y="45262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Походження = Китай (висока / критичний)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8430.61 у Annex I-B → +25%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EPA COC на двигуни/бак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Неможливість бути IOR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Тарифна нестабільність США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аналіз із розрахунками, реєстром ризиків і джерелами: docs/barret-usa-market-analysis.md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Barret -&gt; USA</dc:title>
  <dc:subject>PptxGenJS Presentation</dc:subject>
  <dc:creator>Budmir</dc:creator>
  <cp:lastModifiedBy>Budmir</cp:lastModifiedBy>
  <cp:revision>1</cp:revision>
  <dcterms:created xsi:type="dcterms:W3CDTF">2026-07-30T15:34:06Z</dcterms:created>
  <dcterms:modified xsi:type="dcterms:W3CDTF">2026-07-30T15:34:06Z</dcterms:modified>
</cp:coreProperties>
</file>