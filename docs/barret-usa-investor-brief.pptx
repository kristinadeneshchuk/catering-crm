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3"/>
                </a:solidFill>
                <a:latin typeface="Calibri"/>
              </a:rPr>
              <a:t>Ставка оренди за добу: США проти України, $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Ставка оренди, $/добу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72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728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Віброплита
США</c:v>
                  </c:pt>
                  <c:pt idx="1">
                    <c:v>Трамбовка
США</c:v>
                  </c:pt>
                  <c:pt idx="2">
                    <c:v>Віброплита
Україна</c:v>
                  </c:pt>
                  <c:pt idx="3">
                    <c:v>Трамбовка
Україна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90</c:v>
                </c:pt>
                <c:pt idx="2">
                  <c:v>16.7</c:v>
                </c:pt>
                <c:pt idx="3">
                  <c:v>18.9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3"/>
                </a:solidFill>
                <a:latin typeface="Calibri"/>
              </a:rPr>
              <a:t>Пілот на 35 машин, $ тис.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Базовий сценарій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Вкладення</c:v>
                  </c:pt>
                  <c:pt idx="1">
                    <c:v>Виручка</c:v>
                  </c:pt>
                  <c:pt idx="2">
                    <c:v>Прибуток циклу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91</c:v>
                </c:pt>
                <c:pt idx="2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 митом 25%</c:v>
                </c:pt>
              </c:strCache>
            </c:strRef>
          </c:tx>
          <c:spPr>
            <a:solidFill>
              <a:srgbClr val="0B72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Вкладення</c:v>
                  </c:pt>
                  <c:pt idx="1">
                    <c:v>Виручка</c:v>
                  </c:pt>
                  <c:pt idx="2">
                    <c:v>Прибуток циклу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</c:v>
                </c:pt>
                <c:pt idx="1">
                  <c:v>91</c:v>
                </c:pt>
                <c:pt idx="2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Інвесторська версія аналізу ринку США по компактній ущільнювальній техніці. Дані на 30.07.2026, курс НБУ 44,88.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852160" cy="5852160"/>
          </a:xfrm>
          <a:prstGeom prst="ellipse">
            <a:avLst/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297680"/>
            <a:ext cx="3017520" cy="30175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ІНВЕСТИЦІЙНИЙ БРИФ · 30.07.2026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Компактна техніка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ринок США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Реверсивні віброплити та вібротрамбовки в орендний канал США.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 на один контейнер — з гейтом перевірки перед вкладенням.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$83,5 млрд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ринок оренди США,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(+3,6%)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4434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у цільовій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ніші на юніт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434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пілот: 1 контейнер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склад запчастин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 версія. Повний аналіз із розрахунками, реєстром ризиків і джерелами — окремим документом.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Теза за одну хвилину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934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 не перепродаємо каталог — ми заходимо у вузьку нішу, де в США немає дешевої пропозиції.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Реверсивні віброплити 130–160 кг: у США або китайський ширвжиток за $1,5–2,5k, або Wacker / Bomag за $5–17k. Ми стаємо професійною машиною за $2,6k — саме тим, що орендний двір купує без роздумів.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2095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Ринок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Оренда США — $83,5 млрд і 40–45% усієї закупівлі нової техніки в країні. Купують регулярно, а не разово.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53912" y="30632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32095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28232" y="35478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Техніка, яку ми вже возимо і знаємо: реверсивні плити ST-13B/ST-14 і Honda-трамбовка NG83RH.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718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Економіка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0566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$774–1 050 маржі на юніт (30–40%) навіть у песимістичному тарифному сценарії.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53912" y="45720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8232" y="4718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28232" y="50566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Обмежений: перед основним вкладенням стоїть гейт вартістю до $2k, який може закрити тему.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Ринок і канал: гроші в оренді, не в рітейлі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63040"/>
            <a:ext cx="4187952" cy="1005840"/>
          </a:xfrm>
          <a:prstGeom prst="roundRect">
            <a:avLst>
              <a:gd name="adj" fmla="val 727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26680" y="1572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$83,5 млрд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26680" y="19751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ринок оренди США,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52360" y="2596896"/>
            <a:ext cx="4187952" cy="1005840"/>
          </a:xfrm>
          <a:prstGeom prst="roundRect">
            <a:avLst>
              <a:gd name="adj" fmla="val 727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26680" y="27066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40–45%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266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нової техніки купують орендні парки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52360" y="3730752"/>
            <a:ext cx="4187952" cy="1005840"/>
          </a:xfrm>
          <a:prstGeom prst="roundRect">
            <a:avLst>
              <a:gd name="adj" fmla="val 727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26680" y="3840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8–14 днів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726680" y="4242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оренди — окупність машини для двору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8680" y="5074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наш канал: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971800" y="505663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орендний двір оптимізує не ціну закупки, а простій. Він платить премію за бренд зі складом запчастин у США — і саме це ми можемо дати за менші гроші, ніж Wacker чи Bomag.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ARA, оновлений прогноз 05.2026 · ставки оренди: rentd, countbricks, Sunbelt, United Rentals · Budmir (Україна).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ДИСЦИПЛІНА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чого ми свідомо відмовляємось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BE3D3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402336" cy="402336"/>
          </a:xfrm>
          <a:prstGeom prst="ellipse">
            <a:avLst/>
          </a:prstGeom>
          <a:solidFill>
            <a:srgbClr val="B02A1B"/>
          </a:solidFill>
          <a:ln w="12700">
            <a:solidFill>
              <a:srgbClr val="B02A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739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Масовий імпорт каталогу на Amazon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−255 $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на юніт по масовій плиті RS-95 у сценарії Amazon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роздріб в Україні ($598–642) вищий за роздріб США (VEVOR $420, YARDMAX $480) — везли б з дорожчого ринку на дешевший.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FBA не приймає юніти понад 68 кг — це 11 із 15 позицій каталогу.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Техніка з ДВС вимагає hazmat-режиму та EPA-сертифіката на кожен листинг.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4630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65392" y="1737360"/>
            <a:ext cx="402336" cy="402336"/>
          </a:xfrm>
          <a:prstGeom prst="ellipse">
            <a:avLst/>
          </a:prstGeom>
          <a:solidFill>
            <a:srgbClr val="2F7A3D"/>
          </a:solidFill>
          <a:ln w="12700">
            <a:solidFill>
              <a:srgbClr val="2F7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14032" y="17739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Вузька ніша в орендний канал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2331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+1 050 $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565392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на юніт по реверсивній плиті ST-14 (30–40% навіть з митом)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65392" y="34747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Порожнеча в цінах: китайський ширвжиток $1,5–2,5k або Wacker/Bomag $5–17k. Між ними — нічого.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 дилерам і орендним дворам: великі чеки, повторні замовлення, без повернень Amazon.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Другий SKU — Honda-трамбовка: +$308 на юніт проти Tomahawk за $1 899.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ГРОШІ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Економіка одного юніта: реверсивна плита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Стаття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 митом 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Закупка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Фрахт на юніт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Мито (Section 232)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0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Страхування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Собівартість на складі США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$1 396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для дилера / орендного двору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$2 600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$2 600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Гарантія, запчастини, продажі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Маржа на юніт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+$1 050 (40%)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+$774 (30%)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81328"/>
            <a:ext cx="4096512" cy="2148840"/>
          </a:xfrm>
          <a:prstGeom prst="roundRect">
            <a:avLst>
              <a:gd name="adj" fmla="val 3404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1682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на полиці США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18120" y="21031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Bomag BPR35/60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$16 975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18120" y="24688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Wacker BPU3050A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24688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$5 000–6 000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18120" y="2834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Китайський ширвжиток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0" y="2834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$1 500–2 500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18120" y="3200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ціна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0" y="32004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$2 600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543800" y="3840480"/>
            <a:ext cx="4096512" cy="2057400"/>
          </a:xfrm>
          <a:prstGeom prst="roundRect">
            <a:avLst>
              <a:gd name="adj" fmla="val 3556"/>
            </a:avLst>
          </a:prstGeom>
          <a:solidFill>
            <a:srgbClr val="FBE3D3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81812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змінна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18120" y="43434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Мито Section 232 (25% на повну вартість) — застосовується чи ні, залежить від класифікації товару. Це перевіряється до вкладення грошей, за $0,5–1,5k. В обох сценаріях модель залишається прибутковою.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Закупівельна ціна — модельне припущення (70% української роздрібної), уточнюється фактом з ERP на кроці 2.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ПРОПОЗИЦІЯ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Пілот: один контейнер, повний цикл за 4–6 місяців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675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63040"/>
            <a:ext cx="4096512" cy="1024128"/>
          </a:xfrm>
          <a:prstGeom prst="roundRect">
            <a:avLst>
              <a:gd name="adj" fmla="val 714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90688" y="1554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 бюджету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90688" y="182880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$39k товар (35 реверсивних) · $10k стартовий склад запчастин · $6k брокер, сертифікація, страхування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43800" y="2596896"/>
            <a:ext cx="4096512" cy="1024128"/>
          </a:xfrm>
          <a:prstGeom prst="roundRect">
            <a:avLst>
              <a:gd name="adj" fmla="val 714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90688" y="26883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збуту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90688" y="296265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незалежних орендних дворів в одному штаті (Техас / Флорида / Джорджія) + 1–2 онлайн-дилери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3730752"/>
            <a:ext cx="4096512" cy="1024128"/>
          </a:xfrm>
          <a:prstGeom prst="roundRect">
            <a:avLst>
              <a:gd name="adj" fmla="val 714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90688" y="3822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ввезення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90688" y="409651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 через американського партнера-імпортера — без створення власної юрособи в США на цьому етапі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43800" y="4864608"/>
            <a:ext cx="4096512" cy="1024128"/>
          </a:xfrm>
          <a:prstGeom prst="roundRect">
            <a:avLst>
              <a:gd name="adj" fmla="val 714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90688" y="49560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Очікуваний результат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90688" y="5230368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$21–31k прибутку за цикл (ROI 32–56%) і головне — підтверджений канал для серійних поставок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Прибуток циклу = виручка − собівартість товару − гарантія/сервіс/продажі − фіксовані витрати пілоту. Без урахування податків.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Ризики — і чому вкладення захищене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955280" cy="1051560"/>
          </a:xfrm>
          <a:prstGeom prst="roundRect">
            <a:avLst>
              <a:gd name="adj" fmla="val 6957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46504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54533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Походження товару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819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машини китайського виробництва, мито зростає до 37,5% і модель втрачає частину маржі.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25880" y="20939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Перевіряється по імпортних деклараціях за 1–3 дні. Безкоштовно.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7955280" cy="1051560"/>
          </a:xfrm>
          <a:prstGeom prst="roundRect">
            <a:avLst>
              <a:gd name="adj" fmla="val 6957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916936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16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7157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 Section 232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99008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на повну митну вартість.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25880" y="32644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Висновок митного брокера або CBP ruling до закупівлі. $0,5–1,5k.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7955280" cy="1051560"/>
          </a:xfrm>
          <a:prstGeom prst="roundRect">
            <a:avLst>
              <a:gd name="adj" fmla="val 6957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087368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886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Сертифікація двигунів (EPA)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1605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сертифіката відповідності техніку не ввезти й не продати.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25880" y="4434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Письмове підтвердження від постачальника. Безкоштовно, 1–2 тижні.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928616"/>
            <a:ext cx="7955280" cy="1051560"/>
          </a:xfrm>
          <a:prstGeom prst="roundRect">
            <a:avLst>
              <a:gd name="adj" fmla="val 6957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5257800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5056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буде імпортером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533095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осені 2026 США обмежують іноземних імпортерів.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25880" y="56052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DDP через партнера-резидента — схема, що не залежить від нашої юрособи.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823960" y="1417320"/>
            <a:ext cx="2816352" cy="4617720"/>
          </a:xfrm>
          <a:prstGeom prst="roundRect">
            <a:avLst>
              <a:gd name="adj" fmla="val 2597"/>
            </a:avLst>
          </a:prstGeom>
          <a:solidFill>
            <a:srgbClr val="E8590C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052560" y="1645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 перед грошима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5256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$2k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9052560" y="2788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коштує повна перевірка всіх чотирьох ризиків — і вона робиться до того, як вкладаються $55k.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52560" y="41148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хоч один з гейтів не проходить — проєкт зупиняється зі втратою до $2k, а не до $55k.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робимо далі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Рішення, яке потрібне зараз — не $55k, а згода на перевірку за $2k і 4 тижні.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неї повертаємось із фактичними цифрами: підтверджене походження, підтверджена ставка мита, підтверджена сертифікація і живий фідбек від 5–10 орендних дворів по ціні.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1089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3649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Перевірка фактів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400507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Походження товару за імпортними деклараціями · закупівельні ціни й залишки з обліку · запит сертифікатів EPA у постачальника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54681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55848" y="292608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84448" y="31089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3–4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84448" y="33649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Зовнішня експертиза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4448" y="400507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 митного брокера США по ставці мита і схемі ввезення · квоти на фрахт · прайс страхування відповідальності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84448" y="54681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$0,5–1,5k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63056" y="292608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91656" y="31089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4–6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91656" y="33649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Валідація попиту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91656" y="400507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Розмова з 5–10 незалежними орендними дворами: ціна, вимоги до запчастин, готовність узяти пробну партію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91656" y="54681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$0–0,5k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970264" y="292608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E8590C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98864" y="31089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МІСЯЦЬ 3–6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98864" y="33649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A15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Пілот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98864" y="400507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реверсивних плит + склад запчастин через партнера-імпортера, DDP. Продаж і заміри реального циклу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98864" y="54681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$55k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цифри — станом на 30.07.2026, курс НБУ 44,88 ₴/$. Джерела й повна методологія — у розгорнутій версії аналізу.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Compaction equipment -&gt; USA (investor brief)</dc:title>
  <dc:subject>PptxGenJS Presentation</dc:subject>
  <dc:creator>Budmir</dc:creator>
  <cp:lastModifiedBy>Budmir</cp:lastModifiedBy>
  <cp:revision>1</cp:revision>
  <dcterms:created xsi:type="dcterms:W3CDTF">2026-07-31T09:14:25Z</dcterms:created>
  <dcterms:modified xsi:type="dcterms:W3CDTF">2026-07-31T09:14:25Z</dcterms:modified>
</cp:coreProperties>
</file>